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7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5" r:id="rId17"/>
    <p:sldId id="273" r:id="rId18"/>
    <p:sldId id="274" r:id="rId19"/>
    <p:sldId id="279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96" r:id="rId30"/>
    <p:sldId id="294" r:id="rId31"/>
    <p:sldId id="295" r:id="rId32"/>
    <p:sldId id="287" r:id="rId33"/>
    <p:sldId id="293" r:id="rId34"/>
    <p:sldId id="288" r:id="rId35"/>
    <p:sldId id="289" r:id="rId36"/>
    <p:sldId id="290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AA42-29DB-4FAB-587C-AF0DE0603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84DC8-C2AC-E42B-1A59-069493CC1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2BB5B-2FAA-B772-A7A6-7DF4DE36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53437-0DB5-8BDB-FCFF-3B2A953E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CD4F4-91F0-3EE8-5A98-F1D4C0E4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3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021-C13F-C032-08B8-9AD14DEB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2C7C-EAA7-C2ED-424A-D75E60741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E7E4F-9DBC-9A1C-7E3E-1A402BA9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C6B1B-AC02-FE46-66CC-E7B02DAB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C0B4D-79F9-7934-BDF1-78CE5ED2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4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1C763-BC5B-970C-FA80-42C198A2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204BF-90D1-5AEA-C9C8-F42605A0D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9DF6B-BA54-3E7F-04BB-AC054D4C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968B9-F766-DAE8-69A3-69381299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7FF50-B456-5CDD-4E43-6258AB63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0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B996-9BC0-E736-1885-8C97C1AB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20A03-57A1-93D8-A5B9-1645D53D2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F5A76-4FBA-E8E9-5EC6-E1EC69A4C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8288-8D8B-07BB-211D-F2B2EDEB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DF329-1F26-4898-9FCB-82A8F850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12A4B-994E-FB30-C6C4-2B66970B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15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AF9B7-E50B-C741-1682-4AD8C7E8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F0943-6CCD-FDD4-9BF3-E8ABF0F5A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98FB1-2229-B4B9-F8E7-B607267EF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868401-1CE0-1039-2709-C4DB7A4CE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63FC8-8F1E-FE1C-B12D-61E2BF3E8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57444-E79C-6B32-DEA2-0FB3F733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685756-CBFD-EE3A-BE3E-EBA20CF6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185DA8-AE08-730B-5E88-C312A00B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9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265E0-DA15-1403-FA7F-2CED3EFE4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E5463-6E65-A0C9-5DA0-92E87703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B7AFB-33CC-3960-EB11-21F47D70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67D11-0FED-E4B1-BB9F-08BDBEC0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8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578D8-25F8-28B6-F477-37807C79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ACA68-C135-95C0-9E35-1030BB3BA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1E7FD-9489-C18A-7783-9A15CC4C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76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2D5B-30D5-CEC6-18E9-629FE0D6F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17C26-36A7-0A75-2E91-B28EAF857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AED21-A03D-04F4-0E3A-3AAC84B6E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83082-21ED-D306-D016-A9258D8D6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C4CDA-74A1-65B6-E531-3E10724E2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484AC-583C-EC3E-5EA8-33C41625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2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B067-A3A1-9A61-7B1C-4718BECD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FEF1C-3F46-70E2-0904-C75FFACD3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E1CB4-F154-DE28-E847-9936C1EF7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06EA5-402C-0721-7E35-B3F5185B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3F0A7-DE50-F3A3-06BA-36E21446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0997F-23E7-6F31-985D-EBCC2F9F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5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758B-506C-BAC0-C16D-7F06988B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0DEB45-8634-C374-790E-A9B975D73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546B0-6AA4-D24F-4C80-B63D4B3AD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0BE56-2F41-2B13-46B1-01471652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B158C-E9C9-3EC4-C5B8-76AA8354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7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B0CDD3-EB3A-B4A2-3519-C546F828F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183F4-8870-E93E-59A9-7D4BEE81E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94C34-6934-1F68-FE81-6F94E4F22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20B90-5595-0FCF-764C-E375C457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3A080-5C83-8EED-42BC-13B1C850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01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D1DC6-BCB3-FB8C-FE6A-D87A3599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5AA5F-32CE-84EE-801B-C2D2EFE5B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BB3B1-3AA8-2AA9-D0C1-4AF35360F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BAAAB-C164-4384-AA22-9D94E0F462FD}" type="datetimeFigureOut">
              <a:rPr lang="en-US" smtClean="0"/>
              <a:t>2026-02-03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DCF00-0C14-5F6B-6734-ABA9E20C2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19859-BF68-E234-3AFC-EAF6EEC7A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EF197-5A3E-4B1F-9DFC-9D10CA1E3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7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2E4B-332A-B957-4004-814D54FF0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 for Three Strategies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E9B25-3DB5-6208-E81D-1274A29FA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 Liang</a:t>
            </a:r>
          </a:p>
        </p:txBody>
      </p:sp>
    </p:spTree>
    <p:extLst>
      <p:ext uri="{BB962C8B-B14F-4D97-AF65-F5344CB8AC3E}">
        <p14:creationId xmlns:p14="http://schemas.microsoft.com/office/powerpoint/2010/main" val="393744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4FF5-667F-DE2A-2DE0-49CBD2C1D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1 Step 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3BA2C0-E4CF-1B67-A3A4-5F2A3CC40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706" y="399168"/>
            <a:ext cx="6782747" cy="1257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A5782A-A02E-4435-1452-F32EA99B2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4" y="2048147"/>
            <a:ext cx="5772940" cy="45193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817FED-BE79-7844-A838-E4BA344D6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764" y="2048147"/>
            <a:ext cx="5763493" cy="444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8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37EF-E8D1-FBB6-D8AF-6AEAB8803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1 Step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156F4-B3C9-E674-6343-07635A3E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111" y="2028187"/>
            <a:ext cx="4829849" cy="3286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40625D-CE73-47EB-564E-FAE5352EC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67" y="2028187"/>
            <a:ext cx="2610214" cy="32484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3BE3C8-9C1C-E5E9-3E67-3BAB9F900CD2}"/>
              </a:ext>
            </a:extLst>
          </p:cNvPr>
          <p:cNvSpPr txBox="1"/>
          <p:nvPr/>
        </p:nvSpPr>
        <p:spPr>
          <a:xfrm>
            <a:off x="8239990" y="117693"/>
            <a:ext cx="372341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</a:t>
            </a:r>
            <a:r>
              <a:rPr lang="en-US" dirty="0" err="1"/>
              <a:t>long_ret_next</a:t>
            </a:r>
            <a:r>
              <a:rPr lang="en-US" dirty="0"/>
              <a:t>: Month-t "winner" leg return realized in month t+1 (average </a:t>
            </a:r>
            <a:r>
              <a:rPr lang="en-US" dirty="0" err="1"/>
              <a:t>R_next_cap</a:t>
            </a:r>
            <a:r>
              <a:rPr lang="en-US" dirty="0"/>
              <a:t> of the long side / top group)</a:t>
            </a:r>
          </a:p>
          <a:p>
            <a:r>
              <a:rPr lang="en-US" dirty="0"/>
              <a:t># </a:t>
            </a:r>
            <a:r>
              <a:rPr lang="en-US" dirty="0" err="1"/>
              <a:t>short_ret_next</a:t>
            </a:r>
            <a:r>
              <a:rPr lang="en-US" dirty="0"/>
              <a:t>: Month-t "loser" leg return realized in month t+1 (average </a:t>
            </a:r>
            <a:r>
              <a:rPr lang="en-US" dirty="0" err="1"/>
              <a:t>R_next_cap</a:t>
            </a:r>
            <a:r>
              <a:rPr lang="en-US" dirty="0"/>
              <a:t> of the short side / bottom group)</a:t>
            </a:r>
          </a:p>
          <a:p>
            <a:r>
              <a:rPr lang="en-US" dirty="0"/>
              <a:t># </a:t>
            </a:r>
            <a:r>
              <a:rPr lang="en-US" dirty="0" err="1"/>
              <a:t>LS_spread</a:t>
            </a:r>
            <a:r>
              <a:rPr lang="en-US" dirty="0"/>
              <a:t>: Long-minus-short spread = </a:t>
            </a:r>
            <a:r>
              <a:rPr lang="en-US" dirty="0" err="1"/>
              <a:t>long_ret_next</a:t>
            </a:r>
            <a:r>
              <a:rPr lang="en-US" dirty="0"/>
              <a:t> - </a:t>
            </a:r>
            <a:r>
              <a:rPr lang="en-US" dirty="0" err="1"/>
              <a:t>short_ret_next</a:t>
            </a:r>
            <a:r>
              <a:rPr lang="en-US" dirty="0"/>
              <a:t> (notional spread, not 50/50 scaled)</a:t>
            </a:r>
          </a:p>
          <a:p>
            <a:r>
              <a:rPr lang="en-US" dirty="0"/>
              <a:t># LS_5050: 50/50 self-financing long-short return = 0.5 * (</a:t>
            </a:r>
            <a:r>
              <a:rPr lang="en-US" dirty="0" err="1"/>
              <a:t>long_ret_next</a:t>
            </a:r>
            <a:r>
              <a:rPr lang="en-US" dirty="0"/>
              <a:t> - </a:t>
            </a:r>
            <a:r>
              <a:rPr lang="en-US" dirty="0" err="1"/>
              <a:t>short_ret_next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R_next</a:t>
            </a:r>
            <a:r>
              <a:rPr lang="en-US" dirty="0"/>
              <a:t>: Per-asset next-month realized return (for each </a:t>
            </a:r>
            <a:r>
              <a:rPr lang="en-US" dirty="0" err="1"/>
              <a:t>permno</a:t>
            </a:r>
            <a:r>
              <a:rPr lang="en-US" dirty="0"/>
              <a:t> in membership), i.e., R_{t+1} aligned to signal month t</a:t>
            </a:r>
          </a:p>
          <a:p>
            <a:r>
              <a:rPr lang="en-US" dirty="0"/>
              <a:t># </a:t>
            </a:r>
            <a:r>
              <a:rPr lang="en-US" dirty="0" err="1"/>
              <a:t>R_next_cap</a:t>
            </a:r>
            <a:r>
              <a:rPr lang="en-US" dirty="0"/>
              <a:t>: Capped/</a:t>
            </a:r>
            <a:r>
              <a:rPr lang="en-US" dirty="0" err="1"/>
              <a:t>winsorized</a:t>
            </a:r>
            <a:r>
              <a:rPr lang="en-US" dirty="0"/>
              <a:t> version of </a:t>
            </a:r>
            <a:r>
              <a:rPr lang="en-US" dirty="0" err="1"/>
              <a:t>R_next</a:t>
            </a:r>
            <a:r>
              <a:rPr lang="en-US" dirty="0"/>
              <a:t> (e.g., clipped to [CAP_LO, CAP_HI]) to reduce outlier influence</a:t>
            </a:r>
          </a:p>
        </p:txBody>
      </p:sp>
    </p:spTree>
    <p:extLst>
      <p:ext uri="{BB962C8B-B14F-4D97-AF65-F5344CB8AC3E}">
        <p14:creationId xmlns:p14="http://schemas.microsoft.com/office/powerpoint/2010/main" val="354250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8F28-769D-9A99-AAEB-3F6675A5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1 Step 7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048637-1A1D-1578-EDCB-6CADFACE9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4822"/>
            <a:ext cx="10515600" cy="1355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DA1C60-6DD4-1ADC-4269-3F482FC34EC5}"/>
              </a:ext>
            </a:extLst>
          </p:cNvPr>
          <p:cNvSpPr txBox="1"/>
          <p:nvPr/>
        </p:nvSpPr>
        <p:spPr>
          <a:xfrm>
            <a:off x="619760" y="3505200"/>
            <a:ext cx="107340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# number of valid observations (months)    </a:t>
            </a:r>
          </a:p>
          <a:p>
            <a:r>
              <a:rPr lang="en-US" dirty="0" err="1"/>
              <a:t>mean_m</a:t>
            </a:r>
            <a:r>
              <a:rPr lang="en-US" dirty="0"/>
              <a:t> # average monthly return    </a:t>
            </a:r>
          </a:p>
          <a:p>
            <a:r>
              <a:rPr lang="en-US" dirty="0" err="1"/>
              <a:t>vol_m</a:t>
            </a:r>
            <a:r>
              <a:rPr lang="en-US" dirty="0"/>
              <a:t>  # monthly volatility: sample standard deviation (</a:t>
            </a:r>
            <a:r>
              <a:rPr lang="en-US" dirty="0" err="1"/>
              <a:t>ddof</a:t>
            </a:r>
            <a:r>
              <a:rPr lang="en-US" dirty="0"/>
              <a:t>=1)</a:t>
            </a:r>
          </a:p>
          <a:p>
            <a:r>
              <a:rPr lang="en-US" dirty="0" err="1"/>
              <a:t>sharpe_m</a:t>
            </a:r>
            <a:r>
              <a:rPr lang="en-US" dirty="0"/>
              <a:t> # monthly Sharpe ratio (rf assumed 0); </a:t>
            </a:r>
            <a:r>
              <a:rPr lang="en-US" dirty="0" err="1"/>
              <a:t>NaN</a:t>
            </a:r>
            <a:r>
              <a:rPr lang="en-US" dirty="0"/>
              <a:t> if vol=0    </a:t>
            </a:r>
          </a:p>
          <a:p>
            <a:r>
              <a:rPr lang="en-US" dirty="0" err="1"/>
              <a:t>tstat</a:t>
            </a:r>
            <a:r>
              <a:rPr lang="en-US" dirty="0"/>
              <a:t> # t-stat of mean return vs 0    </a:t>
            </a:r>
          </a:p>
          <a:p>
            <a:r>
              <a:rPr lang="en-US" dirty="0" err="1"/>
              <a:t>ann_ret</a:t>
            </a:r>
            <a:r>
              <a:rPr lang="en-US" dirty="0"/>
              <a:t> # annualized return via linear scaling (12 * monthly mean)    </a:t>
            </a:r>
          </a:p>
          <a:p>
            <a:r>
              <a:rPr lang="en-US" dirty="0" err="1"/>
              <a:t>ann_vol</a:t>
            </a:r>
            <a:r>
              <a:rPr lang="en-US" dirty="0"/>
              <a:t> # annualized volatility via sqrt-time scaling (sqrt(12) * monthly std)    </a:t>
            </a:r>
          </a:p>
          <a:p>
            <a:r>
              <a:rPr lang="en-US" dirty="0" err="1"/>
              <a:t>ann_sharpe</a:t>
            </a:r>
            <a:r>
              <a:rPr lang="en-US" dirty="0"/>
              <a:t> # annualized Sharpe ratio</a:t>
            </a:r>
          </a:p>
          <a:p>
            <a:r>
              <a:rPr lang="en-US" dirty="0" err="1"/>
              <a:t>can_compound</a:t>
            </a:r>
            <a:r>
              <a:rPr lang="en-US" dirty="0"/>
              <a:t> # True if all months satisfy (1+R)&gt;0 so </a:t>
            </a:r>
            <a:r>
              <a:rPr lang="en-US" dirty="0" err="1"/>
              <a:t>cumprod</a:t>
            </a:r>
            <a:r>
              <a:rPr lang="en-US" dirty="0"/>
              <a:t> is valid</a:t>
            </a:r>
          </a:p>
        </p:txBody>
      </p:sp>
    </p:spTree>
    <p:extLst>
      <p:ext uri="{BB962C8B-B14F-4D97-AF65-F5344CB8AC3E}">
        <p14:creationId xmlns:p14="http://schemas.microsoft.com/office/powerpoint/2010/main" val="50091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11B97A-2FB0-4625-8C2E-CDCB1AF68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E83BC-1058-F173-84AB-E7BAF28C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400" y="281671"/>
            <a:ext cx="10071536" cy="929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Strategy 1 Step 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0F8382-310A-4798-72D3-621087C5B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74" y="1341113"/>
            <a:ext cx="3242303" cy="2593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3062D5-EC0B-99D2-2EF9-4D3EE5569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641" y="1341113"/>
            <a:ext cx="3252467" cy="2593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98C6D1-DF3C-6C7D-014E-0F0AF534C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681" y="1341113"/>
            <a:ext cx="3272986" cy="25938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C18740-AC69-08D3-0B7B-C2394EE0D709}"/>
              </a:ext>
            </a:extLst>
          </p:cNvPr>
          <p:cNvSpPr txBox="1"/>
          <p:nvPr/>
        </p:nvSpPr>
        <p:spPr>
          <a:xfrm>
            <a:off x="924560" y="4064000"/>
            <a:ext cx="102461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 LS_5050: the monthly return of a self-financing long–short portfolio that goes 50% long the “winner” group and 50% short the “loser” group; numerically LS_5050(t) = 0.5 * (</a:t>
            </a:r>
            <a:r>
              <a:rPr lang="en-US" sz="1400" dirty="0" err="1"/>
              <a:t>R_winner</a:t>
            </a:r>
            <a:r>
              <a:rPr lang="en-US" sz="1400" dirty="0"/>
              <a:t>(t+1) - </a:t>
            </a:r>
            <a:r>
              <a:rPr lang="en-US" sz="1400" dirty="0" err="1"/>
              <a:t>R_loser</a:t>
            </a:r>
            <a:r>
              <a:rPr lang="en-US" sz="1400" dirty="0"/>
              <a:t>(t+1)).</a:t>
            </a:r>
          </a:p>
          <a:p>
            <a:r>
              <a:rPr lang="en-US" sz="1400" dirty="0"/>
              <a:t>- Cumulative (Compounded): plots the growth of $1 invested in LS_5050 using geometric compounding, i.e., cumulative = (∏_{</a:t>
            </a:r>
            <a:r>
              <a:rPr lang="en-US" sz="1400" dirty="0" err="1"/>
              <a:t>τ≤t</a:t>
            </a:r>
            <a:r>
              <a:rPr lang="en-US" sz="1400" dirty="0"/>
              <a:t>} (1 + LS_5050(τ))) - 1.</a:t>
            </a:r>
          </a:p>
          <a:p>
            <a:r>
              <a:rPr lang="en-US" sz="1400" dirty="0"/>
              <a:t>- Histogram: shows the distribution of monthly LS_5050 returns (how often different return levels occur).</a:t>
            </a:r>
          </a:p>
          <a:p>
            <a:r>
              <a:rPr lang="en-US" sz="1400" dirty="0"/>
              <a:t>- Cumulative (Additive Sum): plots the running sum of LS_5050 returns, i.e., cumulative = Σ_{</a:t>
            </a:r>
            <a:r>
              <a:rPr lang="en-US" sz="1400" dirty="0" err="1"/>
              <a:t>τ≤t</a:t>
            </a:r>
            <a:r>
              <a:rPr lang="en-US" sz="1400" dirty="0"/>
              <a:t>} LS_5050(τ), which is an additive </a:t>
            </a:r>
            <a:r>
              <a:rPr lang="en-US" sz="1400" dirty="0" err="1"/>
              <a:t>PnL</a:t>
            </a:r>
            <a:r>
              <a:rPr lang="en-US" sz="1400" dirty="0"/>
              <a:t>-style accumulation (not a wealth curve).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17835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7B4FE-57E7-6D86-73CD-8BE18EA1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461" y="7320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Strategy 1 Step 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D7CE53-BF68-4A3C-EDB6-693EB064B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208" y="1106301"/>
            <a:ext cx="4209277" cy="3346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CB7C1D-0DA1-F4CB-5AB7-7A2CF9215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311" y="1106301"/>
            <a:ext cx="4403126" cy="33463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45DB49-A50B-7E98-CA42-2AB980B80D56}"/>
              </a:ext>
            </a:extLst>
          </p:cNvPr>
          <p:cNvSpPr txBox="1"/>
          <p:nvPr/>
        </p:nvSpPr>
        <p:spPr>
          <a:xfrm>
            <a:off x="1279461" y="4846320"/>
            <a:ext cx="10262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</a:t>
            </a:r>
            <a:r>
              <a:rPr lang="en-US" dirty="0" err="1"/>
              <a:t>LS_spread</a:t>
            </a:r>
            <a:r>
              <a:rPr lang="en-US" dirty="0"/>
              <a:t>: the raw (not self-financing / not normalized) long–short return spread each month, defined as </a:t>
            </a:r>
            <a:r>
              <a:rPr lang="en-US" dirty="0" err="1"/>
              <a:t>LS_spread</a:t>
            </a:r>
            <a:r>
              <a:rPr lang="en-US" dirty="0"/>
              <a:t>(t) = </a:t>
            </a:r>
            <a:r>
              <a:rPr lang="en-US" dirty="0" err="1"/>
              <a:t>R_winner</a:t>
            </a:r>
            <a:r>
              <a:rPr lang="en-US" dirty="0"/>
              <a:t>(t+1) - </a:t>
            </a:r>
            <a:r>
              <a:rPr lang="en-US" dirty="0" err="1"/>
              <a:t>R_loser</a:t>
            </a:r>
            <a:r>
              <a:rPr lang="en-US" dirty="0"/>
              <a:t>(t+1); it measures how much the winner group outperformed the loser group in that next month.</a:t>
            </a:r>
          </a:p>
        </p:txBody>
      </p:sp>
    </p:spTree>
    <p:extLst>
      <p:ext uri="{BB962C8B-B14F-4D97-AF65-F5344CB8AC3E}">
        <p14:creationId xmlns:p14="http://schemas.microsoft.com/office/powerpoint/2010/main" val="3056557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C9489-ADE0-F790-5062-4347AA9E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1 Step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25335-8F1B-A2E6-32B4-D0CB606D3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81" y="1525677"/>
            <a:ext cx="5353797" cy="3258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7A904-C836-0A67-E31E-121155695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978" y="1525677"/>
            <a:ext cx="5982535" cy="3343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8A51E6-B3D7-5CF8-FE17-2FB7CFB24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13" y="4958671"/>
            <a:ext cx="11419840" cy="135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99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6E74-FD8D-3A3E-27CD-1D13D8B1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1 Step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AAD30-BA61-DFB1-0D5F-5CA9CD06E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825625"/>
            <a:ext cx="5427133" cy="486304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sigma_rt</a:t>
            </a:r>
            <a:r>
              <a:rPr lang="en-US" dirty="0"/>
              <a:t>: realized volatility estimate for that </a:t>
            </a:r>
            <a:r>
              <a:rPr lang="en-US" dirty="0" err="1"/>
              <a:t>permno</a:t>
            </a:r>
            <a:r>
              <a:rPr lang="en-US" dirty="0"/>
              <a:t> at signal month t (std of past returns R_t1 over t-12..t-2 via shift(2).rolling(11).std).</a:t>
            </a:r>
          </a:p>
          <a:p>
            <a:r>
              <a:rPr lang="en-US" dirty="0"/>
              <a:t># </a:t>
            </a:r>
            <a:r>
              <a:rPr lang="en-US" dirty="0" err="1"/>
              <a:t>w_raw</a:t>
            </a:r>
            <a:r>
              <a:rPr lang="en-US" dirty="0"/>
              <a:t>: raw inverse-vol weight before normalization; typically </a:t>
            </a:r>
            <a:r>
              <a:rPr lang="en-US" dirty="0" err="1"/>
              <a:t>w_raw</a:t>
            </a:r>
            <a:r>
              <a:rPr lang="en-US" dirty="0"/>
              <a:t> = 1 / (</a:t>
            </a:r>
            <a:r>
              <a:rPr lang="en-US" dirty="0" err="1"/>
              <a:t>sigma_rt</a:t>
            </a:r>
            <a:r>
              <a:rPr lang="en-US" dirty="0"/>
              <a:t> + eps) (higher weight for lower volatility names).</a:t>
            </a:r>
          </a:p>
          <a:p>
            <a:r>
              <a:rPr lang="en-US" dirty="0"/>
              <a:t># </a:t>
            </a:r>
            <a:r>
              <a:rPr lang="en-US" dirty="0" err="1"/>
              <a:t>w_norm</a:t>
            </a:r>
            <a:r>
              <a:rPr lang="en-US" dirty="0"/>
              <a:t>: normalized weight within the bucket (and month) so weights sum to 1 across names in the same (month, bucket).</a:t>
            </a:r>
          </a:p>
          <a:p>
            <a:r>
              <a:rPr lang="en-US" dirty="0"/>
              <a:t># </a:t>
            </a:r>
            <a:r>
              <a:rPr lang="en-US" dirty="0" err="1"/>
              <a:t>R_next</a:t>
            </a:r>
            <a:r>
              <a:rPr lang="en-US" dirty="0"/>
              <a:t> : the realized next-month return for that </a:t>
            </a:r>
            <a:r>
              <a:rPr lang="en-US" dirty="0" err="1"/>
              <a:t>permno</a:t>
            </a:r>
            <a:r>
              <a:rPr lang="en-US" dirty="0"/>
              <a:t> (i.e., return from month t to t+1).</a:t>
            </a:r>
          </a:p>
          <a:p>
            <a:r>
              <a:rPr lang="en-US" dirty="0"/>
              <a:t># </a:t>
            </a:r>
            <a:r>
              <a:rPr lang="en-US" dirty="0" err="1"/>
              <a:t>R_next_cap</a:t>
            </a:r>
            <a:r>
              <a:rPr lang="en-US" dirty="0"/>
              <a:t>: </a:t>
            </a:r>
            <a:r>
              <a:rPr lang="en-US" dirty="0" err="1"/>
              <a:t>winsorized</a:t>
            </a:r>
            <a:r>
              <a:rPr lang="en-US" dirty="0"/>
              <a:t>/capped version of </a:t>
            </a:r>
            <a:r>
              <a:rPr lang="en-US" dirty="0" err="1"/>
              <a:t>R_next</a:t>
            </a:r>
            <a:r>
              <a:rPr lang="en-US" dirty="0"/>
              <a:t> (e.g., clipped to [CAP_LO, CAP_HI]) to reduce the influence of extreme outliers.</a:t>
            </a:r>
          </a:p>
          <a:p>
            <a:r>
              <a:rPr lang="en-US" dirty="0"/>
              <a:t># --- Month-level IV bucket + long-short outputs (row = one month t; bucket returns are evaluated using t+1 realized returns) ---</a:t>
            </a:r>
          </a:p>
          <a:p>
            <a:r>
              <a:rPr lang="en-US" dirty="0"/>
              <a:t># </a:t>
            </a:r>
            <a:r>
              <a:rPr lang="en-US" dirty="0" err="1"/>
              <a:t>loser_bucket_ret_iv</a:t>
            </a:r>
            <a:r>
              <a:rPr lang="en-US" dirty="0"/>
              <a:t>: inverse-vol-weighted return of the loser bucket (bucket 1) for that month, using weights within the loser bucket.</a:t>
            </a:r>
          </a:p>
          <a:p>
            <a:r>
              <a:rPr lang="en-US" dirty="0"/>
              <a:t># </a:t>
            </a:r>
            <a:r>
              <a:rPr lang="en-US" dirty="0" err="1"/>
              <a:t>winner_bucket_ret_iv</a:t>
            </a:r>
            <a:r>
              <a:rPr lang="en-US" dirty="0"/>
              <a:t>: inverse-vol-weighted return of the winner bucket (bucket Q) for that month, using weights within the winner bucket.</a:t>
            </a:r>
          </a:p>
          <a:p>
            <a:r>
              <a:rPr lang="en-US" dirty="0"/>
              <a:t># </a:t>
            </a:r>
            <a:r>
              <a:rPr lang="en-US" dirty="0" err="1"/>
              <a:t>LS_spread_iv</a:t>
            </a:r>
            <a:r>
              <a:rPr lang="en-US" dirty="0"/>
              <a:t>: long-short spread return for that month = </a:t>
            </a:r>
            <a:r>
              <a:rPr lang="en-US" dirty="0" err="1"/>
              <a:t>winner_bucket_ret_iv</a:t>
            </a:r>
            <a:r>
              <a:rPr lang="en-US" dirty="0"/>
              <a:t> - </a:t>
            </a:r>
            <a:r>
              <a:rPr lang="en-US" dirty="0" err="1"/>
              <a:t>loser_bucket_ret_iv</a:t>
            </a:r>
            <a:r>
              <a:rPr lang="en-US" dirty="0"/>
              <a:t> (raw spread, not normalized).</a:t>
            </a:r>
          </a:p>
          <a:p>
            <a:r>
              <a:rPr lang="en-US" dirty="0"/>
              <a:t># LS_5050_iv: 50/50 self-financing long-short return for that month = 0.5 * (</a:t>
            </a:r>
            <a:r>
              <a:rPr lang="en-US" dirty="0" err="1"/>
              <a:t>winner_bucket_ret_iv</a:t>
            </a:r>
            <a:r>
              <a:rPr lang="en-US" dirty="0"/>
              <a:t> - </a:t>
            </a:r>
            <a:r>
              <a:rPr lang="en-US" dirty="0" err="1"/>
              <a:t>loser_bucket_ret_iv</a:t>
            </a:r>
            <a:r>
              <a:rPr lang="en-US" dirty="0"/>
              <a:t>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68D4A-F960-B524-E4C4-3E4A477E1476}"/>
              </a:ext>
            </a:extLst>
          </p:cNvPr>
          <p:cNvSpPr txBox="1"/>
          <p:nvPr/>
        </p:nvSpPr>
        <p:spPr>
          <a:xfrm>
            <a:off x="6096000" y="2091670"/>
            <a:ext cx="4851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# name: label for the return series being evaluated.</a:t>
            </a:r>
          </a:p>
          <a:p>
            <a:r>
              <a:rPr lang="en-US" sz="1400" dirty="0"/>
              <a:t># T: number of non-</a:t>
            </a:r>
            <a:r>
              <a:rPr lang="en-US" sz="1400" dirty="0" err="1"/>
              <a:t>NaN</a:t>
            </a:r>
            <a:r>
              <a:rPr lang="en-US" sz="1400" dirty="0"/>
              <a:t> monthly observations in the series.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mean_monthly</a:t>
            </a:r>
            <a:r>
              <a:rPr lang="en-US" sz="1400" dirty="0"/>
              <a:t>: average monthly return of the series.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vol_monthly</a:t>
            </a:r>
            <a:r>
              <a:rPr lang="en-US" sz="1400" dirty="0"/>
              <a:t>: monthly return volatility (sample std, </a:t>
            </a:r>
            <a:r>
              <a:rPr lang="en-US" sz="1400" dirty="0" err="1"/>
              <a:t>ddof</a:t>
            </a:r>
            <a:r>
              <a:rPr lang="en-US" sz="1400" dirty="0"/>
              <a:t>=1).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sharpe_monthly</a:t>
            </a:r>
            <a:r>
              <a:rPr lang="en-US" sz="1400" dirty="0"/>
              <a:t>: </a:t>
            </a:r>
            <a:r>
              <a:rPr lang="en-US" sz="1400" dirty="0" err="1"/>
              <a:t>mean_monthly</a:t>
            </a:r>
            <a:r>
              <a:rPr lang="en-US" sz="1400" dirty="0"/>
              <a:t> / </a:t>
            </a:r>
            <a:r>
              <a:rPr lang="en-US" sz="1400" dirty="0" err="1"/>
              <a:t>vol_monthly</a:t>
            </a:r>
            <a:r>
              <a:rPr lang="en-US" sz="1400" dirty="0"/>
              <a:t> (risk-free assumed 0).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tstat</a:t>
            </a:r>
            <a:r>
              <a:rPr lang="en-US" sz="1400" dirty="0"/>
              <a:t>: t-statistic for testing </a:t>
            </a:r>
            <a:r>
              <a:rPr lang="en-US" sz="1400" dirty="0" err="1"/>
              <a:t>mean_monthly</a:t>
            </a:r>
            <a:r>
              <a:rPr lang="en-US" sz="1400" dirty="0"/>
              <a:t> = 0 (mean / (vol/sqrt(T))).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ann_ret</a:t>
            </a:r>
            <a:r>
              <a:rPr lang="en-US" sz="1400" dirty="0"/>
              <a:t>: annualized mean return (12 * </a:t>
            </a:r>
            <a:r>
              <a:rPr lang="en-US" sz="1400" dirty="0" err="1"/>
              <a:t>mean_monthly</a:t>
            </a:r>
            <a:r>
              <a:rPr lang="en-US" sz="1400" dirty="0"/>
              <a:t>; linear scaling).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ann_vol</a:t>
            </a:r>
            <a:r>
              <a:rPr lang="en-US" sz="1400" dirty="0"/>
              <a:t>: annualized volatility (sqrt(12) * </a:t>
            </a:r>
            <a:r>
              <a:rPr lang="en-US" sz="1400" dirty="0" err="1"/>
              <a:t>vol_monthly</a:t>
            </a:r>
            <a:r>
              <a:rPr lang="en-US" sz="1400" dirty="0"/>
              <a:t>).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ann_sharpe</a:t>
            </a:r>
            <a:r>
              <a:rPr lang="en-US" sz="1400" dirty="0"/>
              <a:t>: annualized Sharpe = </a:t>
            </a:r>
            <a:r>
              <a:rPr lang="en-US" sz="1400" dirty="0" err="1"/>
              <a:t>ann_ret</a:t>
            </a:r>
            <a:r>
              <a:rPr lang="en-US" sz="1400" dirty="0"/>
              <a:t> / </a:t>
            </a:r>
            <a:r>
              <a:rPr lang="en-US" sz="1400" dirty="0" err="1"/>
              <a:t>ann_vol</a:t>
            </a:r>
            <a:r>
              <a:rPr lang="en-US" sz="1400" dirty="0"/>
              <a:t> (equivalently </a:t>
            </a:r>
            <a:r>
              <a:rPr lang="en-US" sz="1400" dirty="0" err="1"/>
              <a:t>sharpe_monthly</a:t>
            </a:r>
            <a:r>
              <a:rPr lang="en-US" sz="1400" dirty="0"/>
              <a:t> * sqrt(12)).</a:t>
            </a:r>
          </a:p>
          <a:p>
            <a:r>
              <a:rPr lang="en-US" sz="1400" dirty="0"/>
              <a:t># min: worst single-month return observed in the series.</a:t>
            </a:r>
          </a:p>
          <a:p>
            <a:r>
              <a:rPr lang="en-US" sz="1400" dirty="0"/>
              <a:t># max: best single-month return observed in the series.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can_compound</a:t>
            </a:r>
            <a:r>
              <a:rPr lang="en-US" sz="1400" dirty="0"/>
              <a:t>: True </a:t>
            </a:r>
            <a:r>
              <a:rPr lang="en-US" sz="1400" dirty="0" err="1"/>
              <a:t>iff</a:t>
            </a:r>
            <a:r>
              <a:rPr lang="en-US" sz="1400" dirty="0"/>
              <a:t> (1 + </a:t>
            </a:r>
            <a:r>
              <a:rPr lang="en-US" sz="1400" dirty="0" err="1"/>
              <a:t>R_t</a:t>
            </a:r>
            <a:r>
              <a:rPr lang="en-US" sz="1400" dirty="0"/>
              <a:t>) &gt; 0 for all months in the series (required for a valid compounded wealth curve).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18115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1417F-E96B-84CC-500A-2E4BD011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656" y="142240"/>
            <a:ext cx="9795637" cy="80822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/>
              <a:t>Strategy 1 Step 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0CB8DF-DB60-BBEA-083A-521846D1E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981" y="1398335"/>
            <a:ext cx="3797536" cy="30665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E306C0-5207-8060-16EB-49FA72A73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380" y="1412576"/>
            <a:ext cx="3797536" cy="3019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18DFB9-E66B-3928-EFB5-57EC7AA2D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82" y="1422069"/>
            <a:ext cx="3797536" cy="30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448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DE77ED-BF09-D4FE-5AA7-8CE983A47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Strategy 1 Step 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06EF3-78A0-4F1A-9B9D-B22D3F1F8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72" y="2114218"/>
            <a:ext cx="4915628" cy="3957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C69193-2C10-BFE7-6236-8B9F742E5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2" y="2114218"/>
            <a:ext cx="4961857" cy="395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31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3719-730F-C05C-180D-261EF27DB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280"/>
            <a:ext cx="10515600" cy="969328"/>
          </a:xfrm>
        </p:spPr>
        <p:txBody>
          <a:bodyPr/>
          <a:lstStyle/>
          <a:p>
            <a:r>
              <a:rPr lang="en-US" dirty="0"/>
              <a:t>Strategy 1 Step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114AC-35B1-18AA-8A65-982EE0669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3504"/>
            <a:ext cx="7973538" cy="32580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C4EA46-0FE2-D852-3ABE-2FD6E06DD8C6}"/>
              </a:ext>
            </a:extLst>
          </p:cNvPr>
          <p:cNvSpPr txBox="1"/>
          <p:nvPr/>
        </p:nvSpPr>
        <p:spPr>
          <a:xfrm>
            <a:off x="711200" y="4944533"/>
            <a:ext cx="99483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# </a:t>
            </a:r>
            <a:r>
              <a:rPr lang="en-US" sz="1200" dirty="0" err="1"/>
              <a:t>entry_mid</a:t>
            </a:r>
            <a:r>
              <a:rPr lang="en-US" sz="1200" dirty="0"/>
              <a:t>: entry premium at formation (delta-weighted call/put </a:t>
            </a:r>
            <a:r>
              <a:rPr lang="en-US" sz="1200" dirty="0" err="1"/>
              <a:t>mids</a:t>
            </a:r>
            <a:r>
              <a:rPr lang="en-US" sz="1200" dirty="0"/>
              <a:t>); baseline “gross” entry price.</a:t>
            </a:r>
          </a:p>
          <a:p>
            <a:r>
              <a:rPr lang="en-US" sz="1200" dirty="0"/>
              <a:t># </a:t>
            </a:r>
            <a:r>
              <a:rPr lang="en-US" sz="1200" dirty="0" err="1"/>
              <a:t>exit_intrinsic</a:t>
            </a:r>
            <a:r>
              <a:rPr lang="en-US" sz="1200" dirty="0"/>
              <a:t>: intrinsic value at expiry (delta-weighted call/put intrinsic payoffs); baseline “gross” exit value if held.</a:t>
            </a:r>
          </a:p>
          <a:p>
            <a:r>
              <a:rPr lang="en-US" sz="1200" dirty="0"/>
              <a:t># R_t1: gross return = (</a:t>
            </a:r>
            <a:r>
              <a:rPr lang="en-US" sz="1200" dirty="0" err="1"/>
              <a:t>exit_intrinsic</a:t>
            </a:r>
            <a:r>
              <a:rPr lang="en-US" sz="1200" dirty="0"/>
              <a:t> - </a:t>
            </a:r>
            <a:r>
              <a:rPr lang="en-US" sz="1200" dirty="0" err="1"/>
              <a:t>entry_mid</a:t>
            </a:r>
            <a:r>
              <a:rPr lang="en-US" sz="1200" dirty="0"/>
              <a:t>) / </a:t>
            </a:r>
            <a:r>
              <a:rPr lang="en-US" sz="1200" dirty="0" err="1"/>
              <a:t>entry_mid</a:t>
            </a:r>
            <a:r>
              <a:rPr lang="en-US" sz="1200" dirty="0"/>
              <a:t>.</a:t>
            </a:r>
          </a:p>
          <a:p>
            <a:r>
              <a:rPr lang="en-US" sz="1200" dirty="0"/>
              <a:t># </a:t>
            </a:r>
            <a:r>
              <a:rPr lang="en-US" sz="1200" dirty="0" err="1"/>
              <a:t>entry_eff</a:t>
            </a:r>
            <a:r>
              <a:rPr lang="en-US" sz="1200" dirty="0"/>
              <a:t>: effective entry execution price after entry slippage (pay worse than mid), e.g., </a:t>
            </a:r>
            <a:r>
              <a:rPr lang="en-US" sz="1200" dirty="0" err="1"/>
              <a:t>entry_mid</a:t>
            </a:r>
            <a:r>
              <a:rPr lang="en-US" sz="1200" dirty="0"/>
              <a:t>*(1+slip).</a:t>
            </a:r>
          </a:p>
          <a:p>
            <a:r>
              <a:rPr lang="en-US" sz="1200" dirty="0"/>
              <a:t># </a:t>
            </a:r>
            <a:r>
              <a:rPr lang="en-US" sz="1200" dirty="0" err="1"/>
              <a:t>exit_eff</a:t>
            </a:r>
            <a:r>
              <a:rPr lang="en-US" sz="1200" dirty="0"/>
              <a:t>: effective exit value after exit haircut/slippage (receive worse than intrinsic), e.g., </a:t>
            </a:r>
            <a:r>
              <a:rPr lang="en-US" sz="1200" dirty="0" err="1"/>
              <a:t>exit_intrinsic</a:t>
            </a:r>
            <a:r>
              <a:rPr lang="en-US" sz="1200" dirty="0"/>
              <a:t>*(1-exit_cost).</a:t>
            </a:r>
          </a:p>
          <a:p>
            <a:r>
              <a:rPr lang="en-US" sz="1200" dirty="0"/>
              <a:t># </a:t>
            </a:r>
            <a:r>
              <a:rPr lang="en-US" sz="1200" dirty="0" err="1"/>
              <a:t>roundtrip_cost</a:t>
            </a:r>
            <a:r>
              <a:rPr lang="en-US" sz="1200" dirty="0"/>
              <a:t>: additional round-trip transaction cost modeled as % of </a:t>
            </a:r>
            <a:r>
              <a:rPr lang="en-US" sz="1200" dirty="0" err="1"/>
              <a:t>entry_mid</a:t>
            </a:r>
            <a:r>
              <a:rPr lang="en-US" sz="1200" dirty="0"/>
              <a:t> (e.g., bps per leg × #legs).</a:t>
            </a:r>
          </a:p>
          <a:p>
            <a:r>
              <a:rPr lang="en-US" sz="1200" dirty="0"/>
              <a:t># R_t1_net: net return after slippage + costs = (</a:t>
            </a:r>
            <a:r>
              <a:rPr lang="en-US" sz="1200" dirty="0" err="1"/>
              <a:t>exit_eff</a:t>
            </a:r>
            <a:r>
              <a:rPr lang="en-US" sz="1200" dirty="0"/>
              <a:t> - </a:t>
            </a:r>
            <a:r>
              <a:rPr lang="en-US" sz="1200" dirty="0" err="1"/>
              <a:t>entry_eff</a:t>
            </a:r>
            <a:r>
              <a:rPr lang="en-US" sz="1200" dirty="0"/>
              <a:t> - </a:t>
            </a:r>
            <a:r>
              <a:rPr lang="en-US" sz="1200" dirty="0" err="1"/>
              <a:t>roundtrip_cost</a:t>
            </a:r>
            <a:r>
              <a:rPr lang="en-US" sz="1200" dirty="0"/>
              <a:t>) / </a:t>
            </a:r>
            <a:r>
              <a:rPr lang="en-US" sz="1200" dirty="0" err="1"/>
              <a:t>entry_mid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149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83201-3350-1E2B-DC5B-5F6330E7F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1325563"/>
          </a:xfrm>
        </p:spPr>
        <p:txBody>
          <a:bodyPr/>
          <a:lstStyle/>
          <a:p>
            <a:r>
              <a:rPr lang="en-US" dirty="0"/>
              <a:t>Strategy 1 Step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B9F171-37D2-0679-044E-139991D28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4128"/>
            <a:ext cx="5811061" cy="3334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5C1DB-A261-7D70-A33A-0C2E8F3F3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644" y="1378917"/>
            <a:ext cx="2876951" cy="3229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93F999-E853-A982-AE9A-2A0B757C0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937515"/>
            <a:ext cx="11887200" cy="108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42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60DEE-B08F-C722-CA7A-A5DB28B2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Strategy 1 Step 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83C87-3553-85DC-7646-793F7033F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99" y="3005375"/>
            <a:ext cx="3797536" cy="3076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A99055-4E23-4742-5476-9A779C281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851" y="2986864"/>
            <a:ext cx="3797536" cy="3047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CF6652-6BD0-835E-3EA1-F500266F4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735" y="2986864"/>
            <a:ext cx="3797536" cy="302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92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31BAE-C461-D6CB-FE3F-0715EC9C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Strategy 1 Step 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7D8D1-D37B-843A-E0A9-A38B2F99F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29" y="2157158"/>
            <a:ext cx="5207497" cy="4139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C05F56-ED77-DD61-DD75-FC4DE0356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5" y="2157158"/>
            <a:ext cx="5149239" cy="406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57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2DA7-38AC-A448-1DBE-C23966F1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60520" cy="904875"/>
          </a:xfrm>
        </p:spPr>
        <p:txBody>
          <a:bodyPr/>
          <a:lstStyle/>
          <a:p>
            <a:r>
              <a:rPr lang="en-US" dirty="0"/>
              <a:t>Strategy 2 Step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A68DD-6EB9-8FFA-EE31-E6A770C6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515" y="365125"/>
            <a:ext cx="5191850" cy="1019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C14002-0B29-E49B-30A3-D1FF046E4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0" y="1979933"/>
            <a:ext cx="5827150" cy="45129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AFD124-004A-6AE8-7B37-8BD53B4FF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320" y="1925964"/>
            <a:ext cx="5709920" cy="440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2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86B0-9FA8-A23C-B321-FF66FA2E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33" y="85725"/>
            <a:ext cx="4123267" cy="1325563"/>
          </a:xfrm>
        </p:spPr>
        <p:txBody>
          <a:bodyPr/>
          <a:lstStyle/>
          <a:p>
            <a:r>
              <a:rPr lang="en-US" dirty="0"/>
              <a:t>Strategy 2 Step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2F57E-29AD-8BF4-5CE9-303933BB6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133" y="1411288"/>
            <a:ext cx="4772691" cy="3334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11059-1DD4-C9ED-38A7-323D6920D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579" y="1430340"/>
            <a:ext cx="2591162" cy="3315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0094D5-D970-986B-CAD7-6866127A8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" y="4890896"/>
            <a:ext cx="12080240" cy="152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3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F087-ABA5-1029-433A-C7944BBD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6660" y="753344"/>
            <a:ext cx="4678680" cy="693208"/>
          </a:xfrm>
        </p:spPr>
        <p:txBody>
          <a:bodyPr>
            <a:normAutofit fontScale="90000"/>
          </a:bodyPr>
          <a:lstStyle/>
          <a:p>
            <a:r>
              <a:rPr lang="en-US" dirty="0"/>
              <a:t>Strategy 2 Step 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3174C-3CA3-9B17-6D0C-636F9191E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492" y="2128278"/>
            <a:ext cx="3819124" cy="3000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0315CD-9ABB-68A2-D25C-37A365C41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19" y="2128278"/>
            <a:ext cx="3611947" cy="28614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DF3B57-1746-D9F0-F44C-C75FC3B92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166" y="2128278"/>
            <a:ext cx="3665326" cy="292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881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FC25-4B7E-AA4E-FAE8-2FF3AF01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760" y="324485"/>
            <a:ext cx="4648200" cy="1325563"/>
          </a:xfrm>
        </p:spPr>
        <p:txBody>
          <a:bodyPr/>
          <a:lstStyle/>
          <a:p>
            <a:r>
              <a:rPr lang="en-US" dirty="0"/>
              <a:t>Strategy 2 Step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BD981-CF17-4ABB-2B29-010CA011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5" y="1941627"/>
            <a:ext cx="5446556" cy="4143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F9051-2A59-694B-1E6C-E2B9F9948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19" y="1941627"/>
            <a:ext cx="5381361" cy="428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0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54A76-14A4-FED2-506B-2261C114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2 Step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D6CF4-5A01-4176-2D45-B57161CC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50" y="1523449"/>
            <a:ext cx="5449060" cy="3343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DB0DF4-A7A9-35F9-A310-B935D714E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410" y="1581241"/>
            <a:ext cx="5849166" cy="3248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41F-4EEF-25C7-933B-826D25369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20" y="5202874"/>
            <a:ext cx="11353800" cy="101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99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8013-306A-0ABF-0C2D-4B01E6FEC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2 Step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640FF-FDBB-2555-8138-1A4AC6F83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302" y="2855692"/>
            <a:ext cx="4144390" cy="3295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02673E-95B3-BB91-0D47-785A64BFC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" y="2976880"/>
            <a:ext cx="3911675" cy="3105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130E07-2133-E718-996A-19A965A94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017" y="2931169"/>
            <a:ext cx="3986000" cy="322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747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F4C31-EBF5-0DEA-3331-00F80DD87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Strategy 2 Step 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C5EB1A-BFEB-C7F4-4983-433674EAC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4" y="2365285"/>
            <a:ext cx="4847700" cy="3938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C995F9-0DB7-A1BB-93F9-CD1A14D6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858" y="2365285"/>
            <a:ext cx="5033554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98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A1D3A-95C0-43B4-4143-72E13BFB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2 Step 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EA31E8-C245-4B1D-537C-86449E26F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502" y="1991360"/>
            <a:ext cx="8370145" cy="345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6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519F-9A8E-F6C5-6DAF-9F70145B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2 Step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38D10-A016-D568-9B30-8CF3F5C74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01" y="1415610"/>
            <a:ext cx="5753903" cy="3258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FD16B8-4B89-B9F5-3796-B98A2A134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85" y="1415610"/>
            <a:ext cx="2934109" cy="3238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BDED67-F3D7-4226-7EA3-74AC80ACD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0" y="4756300"/>
            <a:ext cx="11003259" cy="158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54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5662-89DE-81AA-2074-13CB7CEF7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2 Step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CBC81-151B-61A6-FB58-F40C92862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380" y="2193860"/>
            <a:ext cx="3947614" cy="2987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3C8F7B-569C-B1D1-108C-62E096458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98" y="2188863"/>
            <a:ext cx="3778791" cy="2955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F6D474-B27B-2733-7467-DF2C30627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589" y="2188863"/>
            <a:ext cx="3778791" cy="29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02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62074-0F52-3D66-1BC3-EADB7F6F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Strategy 2 Step 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81E7F6-B259-6BC0-E19D-BED09F23C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25" y="1974093"/>
            <a:ext cx="5260815" cy="4116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180A5E-7605-71A5-6AE1-7F2E26FE8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635" y="1974093"/>
            <a:ext cx="6077120" cy="432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82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58228-2379-4EA2-10A1-ABEBD66B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Strategy 3 Step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B60E9-30A5-14F3-3DC8-07B265B39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606" y="2093035"/>
            <a:ext cx="5288154" cy="4204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DBCB40-0FF8-2E26-917A-DEC1654B4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59" y="2093036"/>
            <a:ext cx="5389849" cy="420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63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F252-C3D6-2F65-6793-057D899F4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3 Step 7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E08687-9906-D0C3-A1C8-E9A9CD448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010" y="1709741"/>
            <a:ext cx="4744112" cy="3238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E8C9A0-1C2C-07E0-839C-460197A2D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880" y="1690688"/>
            <a:ext cx="2648320" cy="3258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9E9762-EEE7-CB5A-AB82-E20DDDBB4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40" y="5049612"/>
            <a:ext cx="11054080" cy="14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60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0F595-9113-DB0A-5D11-217096D7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Strategy 3 Step 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305D45-6273-670C-1942-744D65FDC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232" y="2334816"/>
            <a:ext cx="3797536" cy="3009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EFD90C-5CD0-F558-0902-8150E6E93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91" y="2344309"/>
            <a:ext cx="3797536" cy="300005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5B9213-FA56-3223-3C69-FCE24848C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192673" y="2401272"/>
            <a:ext cx="3797536" cy="294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93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C1FE4-8855-AC13-E5DE-630A8A97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319" y="677331"/>
            <a:ext cx="7183819" cy="80150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/>
              <a:t>Strategy 3 Step 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42D80A-CAB1-8EFC-8A9A-9C30D6DD8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94" y="1902163"/>
            <a:ext cx="5283922" cy="414787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90BBA5-3742-831A-17DC-01D839501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6986" y="1902163"/>
            <a:ext cx="5493880" cy="414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252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9F83-2B1C-8B62-499F-F7DCF62C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4C43-0EEA-9BD5-4B04-9BC16C8D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3 Step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538D9-4977-984E-BA19-76EE9BEB9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5" y="1662109"/>
            <a:ext cx="5363323" cy="3286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84DF00-DBF5-C202-3ED9-AF84CA3F6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354" y="1690688"/>
            <a:ext cx="5849166" cy="3258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EE4080-5D99-1003-EFC4-F8E9F515F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54" y="4948693"/>
            <a:ext cx="11125200" cy="146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37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AEE6A-80D4-9486-B3C3-7B70CC02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Strategy 3 Step 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888658-5B3D-8A8E-6555-27B1A42D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707" y="2396250"/>
            <a:ext cx="3797536" cy="3066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061C13-59EC-3033-7B67-FE384FE18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91" y="2419985"/>
            <a:ext cx="3797536" cy="30190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EC0DD4-F24C-E63E-E3C6-F02F55064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673" y="2452738"/>
            <a:ext cx="3797536" cy="296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42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802F6-5246-C13A-9214-D01E3FC8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Strategy 3 Step 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7928DA-D625-8BAA-59CB-82EB8CBCC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59" y="2261031"/>
            <a:ext cx="3797536" cy="3000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4BDAE4-40DB-72E7-BFBB-475267667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146" y="2289512"/>
            <a:ext cx="3797536" cy="2943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3CC452-E5C4-2B3A-057F-8193CBADF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48" y="2261031"/>
            <a:ext cx="3797536" cy="285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58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9347-7480-CEB8-B8D4-F2D25A0F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3 Step 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793BF-FE93-BF90-3B6C-50FF1559D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446" y="1690688"/>
            <a:ext cx="9053113" cy="371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11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619D-71E3-E7DB-E42B-0386508A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3 Step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34266-0017-2680-FB22-B58EBA70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05" y="1592034"/>
            <a:ext cx="5944430" cy="3267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55CFE-84F6-B673-0BB6-71342C795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015" y="1592034"/>
            <a:ext cx="2886478" cy="3248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ACCBB2-CA28-C35A-5E22-AE9571A93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05" y="4840512"/>
            <a:ext cx="9875520" cy="128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62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EF683-FC57-4921-152B-D47A9AD6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D171C-B042-C9D1-4AAA-D058F468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Strategy 3 Step 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674E1A-DDDE-B43C-199C-0BDB57082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79" y="2357218"/>
            <a:ext cx="3797536" cy="2990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FB2C4A-2AE9-2688-6D1A-E53594AD0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266" y="2418928"/>
            <a:ext cx="3797536" cy="28671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F9D43B-1AEB-E1F9-7E96-0D4B3277A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43" y="2490132"/>
            <a:ext cx="3797536" cy="285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785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4A0B-E27B-5827-0042-953104B3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3 Step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B16E5-77BA-ABD2-6EE8-001273571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779" y="1941157"/>
            <a:ext cx="5422071" cy="4169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B190C2-0767-72AD-DC6F-0D04E4368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01" y="1941157"/>
            <a:ext cx="5462419" cy="430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49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3FA7-C0C9-52E0-5F62-3568461A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1 to 3 Step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296960-81AD-B8E1-B0B9-6D59A2CB6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249" y="1835819"/>
            <a:ext cx="2381582" cy="1790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72BC95-4BD5-A60F-1870-40A89F710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261" y="1797714"/>
            <a:ext cx="2343477" cy="1829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B5826-CB78-C7BB-BC1C-B45671B08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323" y="1797713"/>
            <a:ext cx="2343477" cy="1829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762EF3-4404-D21B-D899-D1FE13CD1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24" y="3810005"/>
            <a:ext cx="3536920" cy="29081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C9D6F5-4BC5-4611-5229-E6B4F23C9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0772" y="3775330"/>
            <a:ext cx="3572238" cy="29081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A5B6E8-D39C-23A7-B798-A52E47F65D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7587" y="3775330"/>
            <a:ext cx="3521802" cy="287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7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1407</Words>
  <Application>Microsoft Office PowerPoint</Application>
  <PresentationFormat>Widescreen</PresentationFormat>
  <Paragraphs>89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 Theme</vt:lpstr>
      <vt:lpstr>Results for Three Strategies</vt:lpstr>
      <vt:lpstr>Strategy 1 Step 6</vt:lpstr>
      <vt:lpstr>Strategy 1 Step 7</vt:lpstr>
      <vt:lpstr>Strategy 1 Step 7</vt:lpstr>
      <vt:lpstr>Strategy 1 Step 7</vt:lpstr>
      <vt:lpstr>Strategy 1 Step 7</vt:lpstr>
      <vt:lpstr>Strategy 1 Step 8</vt:lpstr>
      <vt:lpstr>Strategy 1 Step 8</vt:lpstr>
      <vt:lpstr>Strategy 1 Step 8</vt:lpstr>
      <vt:lpstr>Strategy 1 Step 8</vt:lpstr>
      <vt:lpstr>Strategy 1 Step 9</vt:lpstr>
      <vt:lpstr>Strategy 1 Step 9</vt:lpstr>
      <vt:lpstr>Strategy 1 Step 9</vt:lpstr>
      <vt:lpstr>Strategy 1 Step 9</vt:lpstr>
      <vt:lpstr>Strategy 2 Step 6</vt:lpstr>
      <vt:lpstr>Strategy 2 Step 7</vt:lpstr>
      <vt:lpstr>Strategy 2 Step 7</vt:lpstr>
      <vt:lpstr>Strategy 2 Step 7</vt:lpstr>
      <vt:lpstr>Strategy 2 Step 8</vt:lpstr>
      <vt:lpstr>Strategy 2 Step 8</vt:lpstr>
      <vt:lpstr>Strategy 2 Step 8</vt:lpstr>
      <vt:lpstr>Strategy 2 Step 9</vt:lpstr>
      <vt:lpstr>Strategy 2 Step 9</vt:lpstr>
      <vt:lpstr>Strategy 2 Step 9</vt:lpstr>
      <vt:lpstr>Strategy 2 Step 9</vt:lpstr>
      <vt:lpstr>Strategy 3 Step 6</vt:lpstr>
      <vt:lpstr>Strategy 3 Step 7</vt:lpstr>
      <vt:lpstr>Strategy 3 Step 7</vt:lpstr>
      <vt:lpstr>Strategy 3 Step 7</vt:lpstr>
      <vt:lpstr>Strategy 3 Step 8</vt:lpstr>
      <vt:lpstr>Strategy 3 Step 8</vt:lpstr>
      <vt:lpstr>Strategy 3 Step 8</vt:lpstr>
      <vt:lpstr>Strategy 3 Step 9</vt:lpstr>
      <vt:lpstr>Strategy 3 Step 9</vt:lpstr>
      <vt:lpstr>Strategy 3 Step 9</vt:lpstr>
      <vt:lpstr>Strategy 3 Step 9</vt:lpstr>
      <vt:lpstr>Strategy 1 to 3 Step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Hangyu Liang</dc:creator>
  <cp:lastModifiedBy>Hangyu Liang</cp:lastModifiedBy>
  <cp:revision>1</cp:revision>
  <dcterms:created xsi:type="dcterms:W3CDTF">2026-02-02T07:06:39Z</dcterms:created>
  <dcterms:modified xsi:type="dcterms:W3CDTF">2026-02-03T17:33:41Z</dcterms:modified>
</cp:coreProperties>
</file>